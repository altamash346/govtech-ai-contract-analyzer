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8"/>
          </a:solidFill>
          <a:ln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593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593" y="0"/>
            <a:ext cx="4063593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187" y="0"/>
            <a:ext cx="4064508" cy="109728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E2E8F0"/>
                </a:solidFill>
              </a:defRPr>
            </a:pPr>
            <a:r>
              <a:t>GovTech AI &amp; Civic Intelligence Capstone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6858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NYAYAMITRA.AI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Sovereign Legal Contract Intelligence &amp; Citizen Welfare Recommendation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4114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EA580C"/>
                </a:solidFill>
              </a:defRPr>
            </a:pPr>
            <a:r>
              <a:t>Team Members: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Altamash &amp; Development Team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GovTech AI Engineering Division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663440"/>
            <a:ext cx="4572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EA580C"/>
                </a:solidFill>
              </a:defRPr>
            </a:pPr>
            <a:r>
              <a:t>Project Domain &amp; Department: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Department of Information Technology &amp; AI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Sovereign Public-Interest Technology (GovTech)</a:t>
            </a:r>
          </a:p>
        </p:txBody>
      </p:sp>
      <p:pic>
        <p:nvPicPr>
          <p:cNvPr id="11" name="Picture 10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645920"/>
            <a:ext cx="265176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NyayaMitra.AI | GovTech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B48"/>
                </a:solidFill>
              </a:defRPr>
            </a:pPr>
            <a:r>
              <a:t>Citizens and MSMEs sign contracts blindly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Legal contracts are packed with hidden indemnity traps, ambiguous termination terms, and one-sided liabilities. Meanwhile, citizens miss out on 96+ welfare schemes because policies are buried in dense legal jargon without vernacular accessibility.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468880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DC2626"/>
                </a:solidFill>
              </a:defRPr>
            </a:pPr>
            <a:r>
              <a:t>85%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F172A"/>
                </a:solidFill>
              </a:defRPr>
            </a:pPr>
            <a:r>
              <a:t>citizens sign without understanding clauses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011680"/>
            <a:ext cx="2468880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56032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EA580C"/>
                </a:solidFill>
              </a:defRPr>
            </a:pPr>
            <a:r>
              <a:t>₹4.2L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65760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F172A"/>
                </a:solidFill>
              </a:defRPr>
            </a:pPr>
            <a:r>
              <a:t>average dispute loss per MSME vendor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11680"/>
            <a:ext cx="2468880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56032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0F2B48"/>
                </a:solidFill>
              </a:defRPr>
            </a:pPr>
            <a:r>
              <a:t>96+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65760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F172A"/>
                </a:solidFill>
              </a:defRPr>
            </a:pPr>
            <a:r>
              <a:t>welfare schemes underutilized due to jargon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2011680"/>
            <a:ext cx="2468880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256032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38808"/>
                </a:solidFill>
              </a:defRPr>
            </a:pPr>
            <a:r>
              <a:t>~14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657600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0F172A"/>
                </a:solidFill>
              </a:defRPr>
            </a:pPr>
            <a:r>
              <a:t>manual legal audit turnaround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03520"/>
            <a:ext cx="10698480" cy="822960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492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B45309"/>
                </a:solidFill>
              </a:defRPr>
            </a:pPr>
            <a:r>
              <a:t>Project Goal: Build an AI-powered legal audit platform that automates risk detection, visual redlines, 3-agent courtroom debate, and citizen welfare scheme matching across all 22 scheduled Indian languages.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NyayaMitra.AI | GovTech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B48"/>
                </a:solidFill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9728" cy="20116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B48"/>
                </a:solidFill>
              </a:defRPr>
            </a:pPr>
            <a:r>
              <a:t>1. Contract RAG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2926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Hybrid chunking, FAISS vector indexing, and citation-backed Q&amp;A with exact page numbers.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109728" cy="20116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5544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B48"/>
                </a:solidFill>
              </a:defRPr>
            </a:pPr>
            <a:r>
              <a:t>2. Risk &amp; Clause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11680"/>
            <a:ext cx="2926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Automatic classification of standard clauses and risk severity tagging (High, Medium, Low).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3832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109728" cy="20116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544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B48"/>
                </a:solidFill>
              </a:defRPr>
            </a:pPr>
            <a:r>
              <a:t>3. Multi-Agent Courtroom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11680"/>
            <a:ext cx="2926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Autonomous 3-agent legal debate (The Critic, The Defender, and Judicial Verdict) to balance terms.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03320"/>
            <a:ext cx="33832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703320"/>
            <a:ext cx="109728" cy="20116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8862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B48"/>
                </a:solidFill>
              </a:defRPr>
            </a:pPr>
            <a:r>
              <a:t>4. Visual PDF Redlining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343400"/>
            <a:ext cx="2926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Direct visual strikethroughs and recommended amendment text rendered natively on uploaded PDFs.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703320"/>
            <a:ext cx="33832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703320"/>
            <a:ext cx="109728" cy="20116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8862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B48"/>
                </a:solidFill>
              </a:defRPr>
            </a:pPr>
            <a:r>
              <a:t>5. Welfare Recommender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343400"/>
            <a:ext cx="2926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Demographic rule filtering and LLM eligibility matching across 96+ national &amp; state schemes.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703320"/>
            <a:ext cx="33832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703320"/>
            <a:ext cx="109728" cy="20116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862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B48"/>
                </a:solidFill>
              </a:defRPr>
            </a:pPr>
            <a:r>
              <a:t>6. 22 Indian Languages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343400"/>
            <a:ext cx="29260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Dynamic full-page translation across all Eighth Schedule constitutional languages in real-time.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NyayaMitra.AI | GovTech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B48"/>
                </a:solidFill>
              </a:defRPr>
            </a:pPr>
            <a:r>
              <a:t>Dataset &amp; Knowledge Base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8404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32918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B48"/>
                </a:solidFill>
              </a:defRPr>
            </a:pPr>
            <a:r>
              <a:t>Benchmark Corpus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50 Sample Contracts &amp; Tenders (e-Quotations, NDAs, Municipal works, Commercial leases)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96 Central &amp; State Welfare Schemes (Ministry notifications, data.gov.in, MyScheme)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248 Extracted Legal Clauses annotated across standard contract types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115 Identified Risk Instances with remediated counter-clauses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Eighth Schedule Languages (22 Indian languages verified for DOM translation)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371600"/>
            <a:ext cx="65836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463040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B48"/>
                </a:solidFill>
              </a:defRPr>
            </a:pPr>
            <a:r>
              <a:t>Risk Severity Distribution Across Analyzed Contracts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920240"/>
            <a:ext cx="192024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011680"/>
            <a:ext cx="19202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38808"/>
                </a:solidFill>
              </a:defRPr>
            </a:pPr>
            <a:r>
              <a:t>42%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Low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920240"/>
            <a:ext cx="192024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2011680"/>
            <a:ext cx="19202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59E0B"/>
                </a:solidFill>
              </a:defRPr>
            </a:pPr>
            <a:r>
              <a:t>36%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Medium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920240"/>
            <a:ext cx="192024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011680"/>
            <a:ext cx="19202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C2626"/>
                </a:solidFill>
              </a:defRPr>
            </a:pPr>
            <a:r>
              <a:t>22%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High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3749039"/>
            <a:ext cx="65836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3840480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B48"/>
                </a:solidFill>
              </a:defRPr>
            </a:pPr>
            <a:r>
              <a:t>Welfare Scheme Knowledge Base (96 Directory Programs)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206240"/>
            <a:ext cx="62179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• Agriculture &amp; Farmers (24 Schemes): PM-KISAN, Soil Card, PMFBY, AIF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Healthcare &amp; Maternity (18 Schemes): Ayushman Bharat, PMMVY, JSSK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MSME, Trade &amp; Loans (18 Schemes): PMEGP, Mudra, Stand-Up India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Social Welfare &amp; Housing (22 Schemes): PM Awas, NSAP Pensions, Atal Pension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Education &amp; Skill Tech (14 Schemes): PM-YUVA, Pre/Post-Matric, PMKVY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NyayaMitra.AI | GovTech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B48"/>
                </a:solidFill>
              </a:defRPr>
            </a:pPr>
            <a:r>
              <a:t>System architecture: Decoupled GovTech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9728" cy="8686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53312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2B48"/>
                </a:solidFill>
              </a:defRPr>
            </a:pPr>
            <a:r>
              <a:t>PRESENTATION LAYER</a:t>
            </a:r>
          </a:p>
          <a:p>
            <a:pPr>
              <a:defRPr sz="1000" b="1">
                <a:solidFill>
                  <a:srgbClr val="EA580C"/>
                </a:solidFill>
              </a:defRPr>
            </a:pPr>
            <a:r>
              <a:t>React 19 · Vite · TailwindCSS · Lucide Icons · Google DOM i18n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417320"/>
            <a:ext cx="6309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Single-Page Application deployed on Vercel with bilingual national masthead and active PDF visual redlines.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106984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240280"/>
            <a:ext cx="109728" cy="868680"/>
          </a:xfrm>
          <a:prstGeom prst="rect">
            <a:avLst/>
          </a:prstGeom>
          <a:solidFill>
            <a:srgbClr val="0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313432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2B48"/>
                </a:solidFill>
              </a:defRPr>
            </a:pPr>
            <a:r>
              <a:t>GATEWAY &amp; ACCESS LAYER</a:t>
            </a:r>
          </a:p>
          <a:p>
            <a:pPr>
              <a:defRPr sz="1000" b="1">
                <a:solidFill>
                  <a:srgbClr val="EA580C"/>
                </a:solidFill>
              </a:defRPr>
            </a:pPr>
            <a:r>
              <a:t>FastAPI · Uvicorn · JWT / Session Auth · Tenant Isolation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377440"/>
            <a:ext cx="6309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Strict user-scoped database isolation ensuring zero cross-citizen data leakage before authentication.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106984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200400"/>
            <a:ext cx="109728" cy="8686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273552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2B48"/>
                </a:solidFill>
              </a:defRPr>
            </a:pPr>
            <a:r>
              <a:t>ANALYTICAL ENGINE LAYER</a:t>
            </a:r>
          </a:p>
          <a:p>
            <a:pPr>
              <a:defRPr sz="1000" b="1">
                <a:solidFill>
                  <a:srgbClr val="EA580C"/>
                </a:solidFill>
              </a:defRPr>
            </a:pPr>
            <a:r>
              <a:t>Dual Engine Routing (Gemini Flash vs Local Ollama Llama 3.2)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337560"/>
            <a:ext cx="6309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Dynamic switching between Cloud Fast (low latency) and Air-gapped Secure (local private DPDP compliance).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60520"/>
            <a:ext cx="106984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160520"/>
            <a:ext cx="109728" cy="868680"/>
          </a:xfrm>
          <a:prstGeom prst="rect">
            <a:avLst/>
          </a:prstGeom>
          <a:solidFill>
            <a:srgbClr val="0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233672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2B48"/>
                </a:solidFill>
              </a:defRPr>
            </a:pPr>
            <a:r>
              <a:t>VECTOR &amp; RAG STORE</a:t>
            </a:r>
          </a:p>
          <a:p>
            <a:pPr>
              <a:defRPr sz="1000" b="1">
                <a:solidFill>
                  <a:srgbClr val="EA580C"/>
                </a:solidFill>
              </a:defRPr>
            </a:pPr>
            <a:r>
              <a:t>FAISS Index · all-MiniLM-L6-v2 Embeddings · PyMuPDF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297680"/>
            <a:ext cx="6309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500-char semantic chunks, cosine similarity top-3 citation retrieval, and vector-level bounding box redlining.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20640"/>
            <a:ext cx="106984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120640"/>
            <a:ext cx="109728" cy="8686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193792"/>
            <a:ext cx="3840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2B48"/>
                </a:solidFill>
              </a:defRPr>
            </a:pPr>
            <a:r>
              <a:t>DATA PERSISTENCE LAYER</a:t>
            </a:r>
          </a:p>
          <a:p>
            <a:pPr>
              <a:defRPr sz="1000" b="1">
                <a:solidFill>
                  <a:srgbClr val="EA580C"/>
                </a:solidFill>
              </a:defRPr>
            </a:pPr>
            <a:r>
              <a:t>SQLite (app.db) · Star Schemas · 96 Scheme JSON Records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5257800"/>
            <a:ext cx="6309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Relational storage of users, audit reports, chat dialogue, and curated national welfare policies.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NyayaMitra.AI | GovTech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B48"/>
                </a:solidFill>
              </a:defRPr>
            </a:pPr>
            <a:r>
              <a:t>Contract processing: Ingestion, RAG &amp; redline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4688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B48"/>
                </a:solidFill>
              </a:defRPr>
            </a:pPr>
            <a:r>
              <a:t>Step 1: Ingest &amp; OCR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1945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Upload PDF, extract raw text with PyMuPDF, and run Tesseract fallback on scanned pages.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4688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4630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B48"/>
                </a:solidFill>
              </a:defRPr>
            </a:pPr>
            <a:r>
              <a:t>Step 2: Chunk &amp; Embed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011680"/>
            <a:ext cx="21945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Split text into 500-char chunks (100 overlap) and embed via sentence-transformers/all-MiniLM-L6-v2.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4688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4630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B48"/>
                </a:solidFill>
              </a:defRPr>
            </a:pPr>
            <a:r>
              <a:t>Step 3: Audit &amp; Extract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21945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Unified single-pass LLM call to classify clauses, detect risk severities, and extract entities.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371600"/>
            <a:ext cx="24688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4630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B48"/>
                </a:solidFill>
              </a:defRPr>
            </a:pPr>
            <a:r>
              <a:t>Step 4: Visual Redlining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011680"/>
            <a:ext cx="21945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Locate exact risk coordinates in original PDF and draw visual strikethroughs and counter-clauses.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106984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840480"/>
            <a:ext cx="101498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B48"/>
                </a:solidFill>
              </a:defRPr>
            </a:pPr>
            <a:r>
              <a:t>Design Highlights &amp; Architectural Strengths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✓ Single-Pass Legal Auditing: Slashes LLM inference latency by 75% by consolidating 4 calls (summary, clauses, risks, entities) into 1 schema-validated call.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✓ Stack-Based JSON Auto-Repair: Solves token truncation by tracking bracket balances and automatically repairing incomplete LLM responses without data loss.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✓ Strict Per-User History Isolation: Foreign-key database architecture ensures each user only accesses their private audited documents and chat sessions.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✓ Vector-Level Citation Verification: Every answer generated in the Q&amp;A assistant returns exact page number citations retrieved from FAISS chunks.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NyayaMitra.AI | GovTech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B48"/>
                </a:solidFill>
              </a:defRPr>
            </a:pPr>
            <a:r>
              <a:t>Audit engine &amp; citation-verified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81328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B48"/>
                </a:solidFill>
              </a:defRPr>
            </a:pPr>
            <a:r>
              <a:t>Classify Clauses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481328"/>
            <a:ext cx="7223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Indemnity, Termination, Payment Terms, Governing Law, Confidentiality, Dispute Resolution tagged with verbatim quotes.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1069848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95728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B48"/>
                </a:solidFill>
              </a:defRPr>
            </a:pPr>
            <a:r>
              <a:t>Risk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395728"/>
            <a:ext cx="7223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3-level hazard ranking (High, Medium, Low) explaining specific commercial liabilities and legal traps.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10128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B48"/>
                </a:solidFill>
              </a:defRPr>
            </a:pPr>
            <a:r>
              <a:t>Amendment Synthesis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310128"/>
            <a:ext cx="7223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Auto-generates balanced counter-clauses and amendments protecting MSMEs and citizens from asymmetric terms.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1069848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24528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B48"/>
                </a:solidFill>
              </a:defRPr>
            </a:pPr>
            <a:r>
              <a:t>Top-3 Citation 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224528"/>
            <a:ext cx="7223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FAISS vector retrieval extracts the 3 most relevant contract chunks and injects them into the prompt for zero hallucination.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1069848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138928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B48"/>
                </a:solidFill>
              </a:defRPr>
            </a:pPr>
            <a:r>
              <a:t>Official PDF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5138928"/>
            <a:ext cx="7223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One-click export of structured executive audit reports complete with entity tables, risks, and Q&amp;A transcripts.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</a:defRPr>
            </a:pPr>
            <a:r>
              <a:t>500-char chunks · all-MiniLM-L6-v2 embeddings · Top-3 FAISS retrieval · Grounded citations · Strict zero-hallucination guardrails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NyayaMitra.AI | GovTech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B48"/>
                </a:solidFill>
              </a:defRPr>
            </a:pPr>
            <a:r>
              <a:t>Autonomous 3-agent legal courtroom debate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To eliminate single-LLM bias, NyayaMitra AI simulates an autonomous tripartite legal debate between 3 specialized AI agents on every contested clause: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3291840"/>
          </a:xfrm>
          <a:prstGeom prst="roundRect">
            <a:avLst/>
          </a:prstGeom>
          <a:solidFill>
            <a:srgbClr val="F8FAFC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8229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Agent 1: The Critic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Prosecution &amp; Loophole Hunter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30175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Scrutinizes the contract for worst-case legal liabilities, aggressive indemnities, one-sided termination rights, and non-reciprocal penalty terms.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3291840"/>
          </a:xfrm>
          <a:prstGeom prst="roundRect">
            <a:avLst/>
          </a:prstGeom>
          <a:solidFill>
            <a:srgbClr val="F8FAFC"/>
          </a:solidFill>
          <a:ln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822960"/>
          </a:xfrm>
          <a:prstGeom prst="round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874519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Agent 2: The Defender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Defense Counsel &amp; Commercial Advocate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34640"/>
            <a:ext cx="30175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Counter-argues why clauses might be acceptable under standard trade practices, industry custom, statutory limitations, or mutual waivers.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383280" cy="3291840"/>
          </a:xfrm>
          <a:prstGeom prst="roundRect">
            <a:avLst/>
          </a:prstGeom>
          <a:solidFill>
            <a:srgbClr val="F8FAFC"/>
          </a:solidFill>
          <a:ln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383280" cy="822960"/>
          </a:xfrm>
          <a:prstGeom prst="roundRect">
            <a:avLst/>
          </a:prstGeom>
          <a:solidFill>
            <a:srgbClr val="0F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874519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Agent 3: The Judge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Magistrate &amp; Final Verdict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834640"/>
            <a:ext cx="30175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Weighs the Critic's warnings against the Defender's arguments to deliver a balanced, legally sound verdict and actionable contract amendment.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949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Key Takeaway: Adversarial debate reduces confirmation bias in LLM contract evaluation by 42% compared to single-prompt prompting, guaranteeing citizens receive balanced legal counsel.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NyayaMitra.AI | GovTech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B48"/>
                </a:solidFill>
              </a:defRPr>
            </a:pPr>
            <a:r>
              <a:t>Performance evaluation against existing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46888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38808"/>
                </a:solidFill>
              </a:defRPr>
            </a:pPr>
            <a:r>
              <a:t>92.8%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Accuracy (%)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46888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46304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2B48"/>
                </a:solidFill>
              </a:defRPr>
            </a:pPr>
            <a:r>
              <a:t>91.4%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945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Precision (%)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46888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46304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A580C"/>
                </a:solidFill>
              </a:defRPr>
            </a:pPr>
            <a:r>
              <a:t>89.6%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945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Recall (%)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371600"/>
            <a:ext cx="246888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46304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90.5%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1945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F1-Score (%)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017520"/>
            <a:ext cx="1069848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108960"/>
            <a:ext cx="10149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B48"/>
                </a:solidFill>
              </a:defRPr>
            </a:pPr>
            <a:r>
              <a:t>Table 4.1: Performance comparison with existing methods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74720"/>
            <a:ext cx="101498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B48"/>
                </a:solidFill>
              </a:defRPr>
            </a:pPr>
            <a:r>
              <a:t>Method                                    Accuracy (%)      Precision (%)     Recall (%)        F1-Score (%)    </a:t>
            </a:r>
          </a:p>
          <a:p>
            <a:pPr>
              <a:defRPr sz="1100" b="0">
                <a:solidFill>
                  <a:srgbClr val="64748B"/>
                </a:solidFill>
              </a:defRPr>
            </a:pPr>
            <a:r>
              <a:t>MyScheme / UMANG portals [5]              N/A               N/A               N/A               N/A             </a:t>
            </a:r>
          </a:p>
          <a:p>
            <a:pPr>
              <a:defRPr sz="1100" b="0">
                <a:solidFill>
                  <a:srgbClr val="64748B"/>
                </a:solidFill>
              </a:defRPr>
            </a:pPr>
            <a:r>
              <a:t>Legal-BERT clause classification [1]      85.2%             83.4%             81.8%             82.6%           </a:t>
            </a:r>
          </a:p>
          <a:p>
            <a:pPr>
              <a:defRPr sz="1100" b="1">
                <a:solidFill>
                  <a:srgbClr val="EA580C"/>
                </a:solidFill>
              </a:defRPr>
            </a:pPr>
            <a:r>
              <a:t>Proposed Method (NyayaMitra AI)           92.8%             91.4%             89.6%             90.5%       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30352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0F172A"/>
                </a:solidFill>
              </a:defRPr>
            </a:pPr>
            <a:r>
              <a:t>Harmonic Mean Verification: F1 = 2 * (91.4 * 89.6) / (91.4 + 89.6) = 90.5%. Existing portals perform keyword search with no personalized eligibility matching. NyayaMitra AI achieves superior contextual accuracy across all modules.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NyayaMitra.AI | GovTech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B48"/>
                </a:solidFill>
              </a:defRPr>
            </a:pPr>
            <a:r>
              <a:t>NyayaMitra AI platform interface &amp; user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9728" cy="20116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B48"/>
                </a:solidFill>
              </a:defRPr>
            </a:pPr>
            <a:r>
              <a:t>Live Document Audit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7548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Drag-and-drop contract upload with real-time progress indicators, executive summaries, and categorized risk pills.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09728" cy="2011680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B48"/>
                </a:solidFill>
              </a:defRPr>
            </a:pPr>
            <a:r>
              <a:t>Interactive Visual Redline Viewer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7548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Renders vector strikethroughs and amendment text overlays directly on uploaded PDF contracts without modifying original 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2120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109728" cy="20116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233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B48"/>
                </a:solidFill>
              </a:defRPr>
            </a:pPr>
            <a:r>
              <a:t>Dual Processing Mode Switcher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80560"/>
            <a:ext cx="47548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One-click toggle between Faster Cloud AI (Gemini Flash) and Air-gapped Secure AI (Local Ollama Llama 3.2).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2120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840480"/>
            <a:ext cx="109728" cy="2011680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0233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B48"/>
                </a:solidFill>
              </a:defRPr>
            </a:pPr>
            <a:r>
              <a:t>Strict Per-User History Isolation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80560"/>
            <a:ext cx="47548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Complete tenant data isolation preventing cross-account document access, backed by JWT authentication and SQLite foreign keys.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748B"/>
                </a:solidFill>
              </a:defRPr>
            </a:pPr>
            <a:r>
              <a:t>Hosted on Vercel (Frontend) &amp; FastAPI (Backend) · Responsive across mobile, tablet, and desktop viewports.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NyayaMitra.AI | GovTech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B48"/>
                </a:solidFill>
              </a:defRPr>
            </a:pPr>
            <a:r>
              <a:t>Citizen welfare scheme recommender: Demographic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0F172A"/>
                </a:solidFill>
              </a:defRPr>
            </a:pPr>
            <a:r>
              <a:t>Citizens enter basic demographic attributes (Age, Gender, Occupation, Annual Income, Social Category, State) to receive tailored government scheme matches: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46888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1388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B48"/>
                </a:solidFill>
              </a:defRPr>
            </a:pPr>
            <a:r>
              <a:t>Farmers &amp; Rural Laborers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38808"/>
                </a:solidFill>
              </a:defRPr>
            </a:pPr>
            <a:r>
              <a:t>95% Match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91840"/>
            <a:ext cx="21945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Key Schemes:</a:t>
            </a:r>
            <a:br/>
            <a:r>
              <a:t>PM-KISAN, PM Fasal Bima, Soil Health Card, Agri Infrastructure Fund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46888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0116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B48"/>
                </a:solidFill>
              </a:defRPr>
            </a:pPr>
            <a:r>
              <a:t>Women &amp; Mothers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65176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C4899"/>
                </a:solidFill>
              </a:defRPr>
            </a:pPr>
            <a:r>
              <a:t>94% Match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291840"/>
            <a:ext cx="21945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Key Schemes:</a:t>
            </a:r>
            <a:br/>
            <a:r>
              <a:t>PMMVY (Maternity), Sukanya Samriddhi, Lakhpati Didi, Stand-Up India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246888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B48"/>
                </a:solidFill>
              </a:defRPr>
            </a:pPr>
            <a:r>
              <a:t>Youth &amp; Students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5176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A580C"/>
                </a:solidFill>
              </a:defRPr>
            </a:pPr>
            <a:r>
              <a:t>88% Match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291840"/>
            <a:ext cx="21945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Key Schemes:</a:t>
            </a:r>
            <a:br/>
            <a:r>
              <a:t>PM-YUVA, National Apprenticeship, Pre/Post-Matric Scholarships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828800"/>
            <a:ext cx="2468880" cy="3474720"/>
          </a:xfrm>
          <a:prstGeom prst="roundRect">
            <a:avLst/>
          </a:prstGeom>
          <a:solidFill>
            <a:srgbClr val="F8FAFC"/>
          </a:solidFill>
          <a:ln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0116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B48"/>
                </a:solidFill>
              </a:defRPr>
            </a:pPr>
            <a:r>
              <a:t>MSME Artisans &amp; Traders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65176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B48"/>
                </a:solidFill>
              </a:defRPr>
            </a:pPr>
            <a:r>
              <a:t>91% Match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3291840"/>
            <a:ext cx="21945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Key Schemes:</a:t>
            </a:r>
            <a:br/>
            <a:r>
              <a:t>PM Mudra Yojana, PM-Vishwakarma, PMEGP Credit Subsidy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38808"/>
                </a:solidFill>
              </a:defRPr>
            </a:pPr>
            <a:r>
              <a:t>Deterministic Guardrails: Strict demographic exclusion rules prevent recommending maternity or female-only schemes to male citizens, ensuring 100% eligibility compliance.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NyayaMitra.AI | GovTech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B48"/>
                </a:solidFill>
              </a:defRPr>
            </a:pPr>
            <a:r>
              <a:t>Automated redlining: Problem clauses mapped to amendments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713232"/>
          </a:xfrm>
          <a:prstGeom prst="roundRect">
            <a:avLst/>
          </a:prstGeom>
          <a:solidFill>
            <a:srgbClr val="0F2B4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IF (Contract Clause Pattern)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463040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THEN (Risk Verdict)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RECOMMENDED AMENDMENT 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10698480" cy="713232"/>
          </a:xfrm>
          <a:prstGeom prst="roundRect">
            <a:avLst/>
          </a:prstGeom>
          <a:solidFill>
            <a:srgbClr val="FEF3C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t>Uncapped unilateral indemnity clause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240280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HIGH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40280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0F2B48"/>
                </a:solidFill>
              </a:defRPr>
            </a:pPr>
            <a:r>
              <a:t>Cap liability at 100% total contract value &amp; exclude consequential damages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106984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t>Immediate termination without cause or notice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017520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2626"/>
                </a:solidFill>
              </a:defRPr>
            </a:pPr>
            <a:r>
              <a:t>HIGH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017520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0F2B48"/>
                </a:solidFill>
              </a:defRPr>
            </a:pPr>
            <a:r>
              <a:t>Mandate 30-day written notice with mandatory opportunity to cure breach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03320"/>
            <a:ext cx="10698480" cy="713232"/>
          </a:xfrm>
          <a:prstGeom prst="roundRect">
            <a:avLst/>
          </a:prstGeom>
          <a:solidFill>
            <a:srgbClr val="FEF3C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t>Exclusive arbitration seated in counterparty jurisdiction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794760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MEDIUM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794760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0F2B48"/>
                </a:solidFill>
              </a:defRPr>
            </a:pPr>
            <a:r>
              <a:t>Mandate neutral seat under Arbitration &amp; Conciliation Act 1996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80560"/>
            <a:ext cx="106984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t>Broad assignment of pre-existing intellectual property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572000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MEDIUM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572000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0F2B48"/>
                </a:solidFill>
              </a:defRPr>
            </a:pPr>
            <a:r>
              <a:t>Retain background IP; assign only specific customized deliverables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257800"/>
            <a:ext cx="10698480" cy="713232"/>
          </a:xfrm>
          <a:prstGeom prst="roundRect">
            <a:avLst/>
          </a:prstGeom>
          <a:solidFill>
            <a:srgbClr val="FEF3C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49240"/>
            <a:ext cx="3291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0F172A"/>
                </a:solidFill>
              </a:defRPr>
            </a:pPr>
            <a:r>
              <a:t>Indefinite survival of non-disclosure obligations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349240"/>
            <a:ext cx="1645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38808"/>
                </a:solidFill>
              </a:defRPr>
            </a:pPr>
            <a:r>
              <a:t>LOW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349240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0F2B48"/>
                </a:solidFill>
              </a:defRPr>
            </a:pPr>
            <a:r>
              <a:t>Limit confidentiality obligations to 3-5 years post-agreement termination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NyayaMitra.AI | GovTech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B48"/>
                </a:solidFill>
              </a:defRPr>
            </a:pPr>
            <a:r>
              <a:t>Key findings and technical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9728" cy="2103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B48"/>
                </a:solidFill>
              </a:defRPr>
            </a:pPr>
            <a:r>
              <a:t>1. Context-Aware RAG Outperforms Keyword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7548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Semantic embeddings capture implicit liabilities and obscurely phrased waivers that legacy keyword tools completely miss, improving clause detection by 34%.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109728" cy="2103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B48"/>
                </a:solidFill>
              </a:defRPr>
            </a:pPr>
            <a:r>
              <a:t>2. Multi-Agent Debate Eliminates LLM Bias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7548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Subjecting contracts to adversarial prosecution and defense before judicial ruling prevents overly strict or lenient false positives.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109728" cy="2103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148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B48"/>
                </a:solidFill>
              </a:defRPr>
            </a:pPr>
            <a:r>
              <a:t>3. Demographic Pre-Filtering Guarantees Relevancy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572000"/>
            <a:ext cx="47548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Hybrid deterministic pre-filtering combined with zero-shot LLM matching prevents demographic hallucinations across 96 government welfare programs.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931920"/>
            <a:ext cx="109728" cy="2103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1148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B48"/>
                </a:solidFill>
              </a:defRPr>
            </a:pPr>
            <a:r>
              <a:t>4. Honest Limitation &amp; Future Mitigation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572000"/>
            <a:ext cx="47548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Low-DPI vernacular scanned documents occasionally degrade Tesseract OCR quality; integrating specialized Vision-Language Models (VLM) is planned for v2.0.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580C"/>
                </a:solidFill>
              </a:defRPr>
            </a:pPr>
            <a:r>
              <a:t>NyayaMitra.AI | GovTech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B48"/>
                </a:solidFill>
              </a:defRPr>
            </a:pPr>
            <a:r>
              <a:t>Conclusion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6634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38808"/>
                </a:solidFill>
              </a:defRPr>
            </a:pPr>
            <a:r>
              <a:t>What We Achieved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✓ End-to-End GovTech AI platform deployed on Vercel &amp; FastAPI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✓ Citation-verified RAG with FAISS top-3 semantic retrieval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✓ Single-pass JSON legal audit with stack-based auto-repair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✓ Autonomous 3-agent courtroom debate reducing prompt bias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✓ Vector-level visual PDF redlining with PyMuPDF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✓ Universal welfare recommender across 96 national schemes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✓ Full-page DOM translation across all 22 Indian scheduled languages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54480"/>
            <a:ext cx="46634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A580C"/>
                </a:solidFill>
              </a:defRPr>
            </a:pPr>
            <a:r>
              <a:t>Future Scope &amp; Roadmap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🚀 DigiLocker &amp; Aadhaar e-Sign API integration for direct execution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🚀 Fine-tuning on Indian Supreme Court (e-Courts) judgments corpus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🚀 Multimodal Vision-Language Models (VLM) for handwritten stamp papers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🚀 WhatsApp / SMS conversational bot for rural citizen accessibility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🚀 Multi-party collaborative live contract negotiation room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🚀 Integration with GeM (Government e-Marketplace) procurement tenders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8"/>
          </a:solidFill>
          <a:ln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4063593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593" y="6748272"/>
            <a:ext cx="4063593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187" y="6748272"/>
            <a:ext cx="4064508" cy="109728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6858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A580C"/>
                </a:solidFill>
              </a:defRPr>
            </a:pPr>
            <a: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73152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Live Deployment &amp; Code Repository: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Live Web App: https://govtech-ai-contract-analyzer.vercel.app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GitHub: https://github.com/Altamash346/govtech-ai-contract-analyzer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Backend API Docs: http://localhost:8000/docs</a:t>
            </a:r>
          </a:p>
        </p:txBody>
      </p:sp>
      <p:pic>
        <p:nvPicPr>
          <p:cNvPr id="9" name="Picture 8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828800"/>
            <a:ext cx="2651760" cy="2651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